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Play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o9XERb8c+WTjX9DqkeU84mZtP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3DECAC-3A0F-44E1-B952-E874A0DB6F7D}">
  <a:tblStyle styleId="{653DECAC-3A0F-44E1-B952-E874A0DB6F7D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l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Relationship Id="rId4" Type="http://schemas.openxmlformats.org/officeDocument/2006/relationships/image" Target="../media/image19.jpg"/><Relationship Id="rId5" Type="http://schemas.openxmlformats.org/officeDocument/2006/relationships/image" Target="../media/image8.jp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14314" y="2293257"/>
            <a:ext cx="4867373" cy="82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lang="es-ES" sz="4800"/>
              <a:t>RedPatrullApp</a:t>
            </a:r>
            <a:endParaRPr sz="4800"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614314" y="3167925"/>
            <a:ext cx="4867373" cy="571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/>
              <a:t>Presentación Final Capstone</a:t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23207"/>
            <a:ext cx="12192000" cy="534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dahuel - Wikipedia, la enciclopedia libre"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45719" t="0"/>
          <a:stretch/>
        </p:blipFill>
        <p:spPr>
          <a:xfrm>
            <a:off x="6096000" y="6070"/>
            <a:ext cx="6096000" cy="6317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838199" y="306042"/>
            <a:ext cx="10515600" cy="831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ES" sz="3600"/>
              <a:t>Integrantes del Proyecto</a:t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 b="25334" l="0" r="0" t="14359"/>
          <a:stretch/>
        </p:blipFill>
        <p:spPr>
          <a:xfrm>
            <a:off x="984504" y="1300479"/>
            <a:ext cx="2767075" cy="2920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rsona posando delante de una pared&#10;&#10;El contenido generado por IA puede ser incorrecto." id="94" name="Google Shape;94;p2"/>
          <p:cNvPicPr preferRelativeResize="0"/>
          <p:nvPr/>
        </p:nvPicPr>
        <p:blipFill rotWithShape="1">
          <a:blip r:embed="rId4">
            <a:alphaModFix/>
          </a:blip>
          <a:srcRect b="7866" l="17775" r="32732" t="0"/>
          <a:stretch/>
        </p:blipFill>
        <p:spPr>
          <a:xfrm>
            <a:off x="8545321" y="1312790"/>
            <a:ext cx="2777003" cy="290801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 txBox="1"/>
          <p:nvPr/>
        </p:nvSpPr>
        <p:spPr>
          <a:xfrm>
            <a:off x="838199" y="4519531"/>
            <a:ext cx="3224639" cy="160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Renato Acuña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Cargo: Analista Programador</a:t>
            </a:r>
            <a:b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Funciones: Diseña, codifica y prueba los componentes de software necesarios para las funcionalidades.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4599432" y="4484919"/>
            <a:ext cx="3368911" cy="160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Vicente González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Cargo: Analista QA</a:t>
            </a:r>
            <a:b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Funciones:</a:t>
            </a:r>
            <a:b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Garantiza la calidad del producto mediante la planificación y ejecución de pruebas (manuales y/o automatizadas).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8504937" y="4519531"/>
            <a:ext cx="3000027" cy="160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Gabriel Orellana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Cargo: Jefe de Proyecto</a:t>
            </a:r>
            <a:b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Funciones:</a:t>
            </a:r>
            <a:b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Lidera, planifica y controla la ejecución del proyecto para cumplir con el alcance, el y el cronograma.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5">
            <a:alphaModFix/>
          </a:blip>
          <a:srcRect b="19145" l="-2206" r="4903" t="7416"/>
          <a:stretch/>
        </p:blipFill>
        <p:spPr>
          <a:xfrm>
            <a:off x="4697441" y="1312790"/>
            <a:ext cx="2902018" cy="292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" y="6340095"/>
            <a:ext cx="12192000" cy="534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ES" sz="3600"/>
              <a:t>Descripción del Proyecto</a:t>
            </a:r>
            <a:endParaRPr/>
          </a:p>
        </p:txBody>
      </p:sp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838200" y="1825625"/>
            <a:ext cx="48223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ES" sz="2000"/>
              <a:t>Problema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ES" sz="2000"/>
              <a:t>Actualmente, los patrulleros de Pudahuel gestionan incidentes mediante WhatsApp, lo que provoca información dispersa, falta de trazabilidad y ausencia de análisis. Esto dificulta la coordinación y disminuye la eficacia en la respuesta a los incidentes de seguridad.</a:t>
            </a:r>
            <a:endParaRPr/>
          </a:p>
        </p:txBody>
      </p:sp>
      <p:pic>
        <p:nvPicPr>
          <p:cNvPr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23207"/>
            <a:ext cx="12192000" cy="534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uardia municipal acudió a robo en carnicería, pero terminó robando él: este es el mísero botín que sacó de la caja | ADN Radio" id="107" name="Google Shape;10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1431" y="1583871"/>
            <a:ext cx="4911772" cy="3690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ES" sz="3600"/>
              <a:t>Descripción del Proyecto</a:t>
            </a:r>
            <a:endParaRPr/>
          </a:p>
        </p:txBody>
      </p:sp>
      <p:sp>
        <p:nvSpPr>
          <p:cNvPr id="113" name="Google Shape;113;p4"/>
          <p:cNvSpPr txBox="1"/>
          <p:nvPr/>
        </p:nvSpPr>
        <p:spPr>
          <a:xfrm>
            <a:off x="838200" y="1831278"/>
            <a:ext cx="5140221" cy="31180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Propuesta de solución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un sistema centralizado de gestión de incidentes que permita registrar, ordenar y analizar la información en tiempo real. El sistema ofrecerá trazabilidad completa, mejor comunicación interna y herramientas de análisis para optimizar la toma de decisiones y mejorar la seguridad comunal.</a:t>
            </a:r>
            <a:endParaRPr/>
          </a:p>
        </p:txBody>
      </p:sp>
      <p:pic>
        <p:nvPicPr>
          <p:cNvPr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23207"/>
            <a:ext cx="12192000" cy="534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7950" y="1755652"/>
            <a:ext cx="4780993" cy="3346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ES" sz="3600"/>
              <a:t>Descripción del Caso</a:t>
            </a:r>
            <a:endParaRPr/>
          </a:p>
        </p:txBody>
      </p:sp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838200" y="1825625"/>
            <a:ext cx="10116127" cy="14348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ES" sz="2000"/>
              <a:t>Objetivo General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ES" sz="2000"/>
              <a:t>Diseñar e implementar un sistema centralizado que mejore la coordinación, trazabilidad y análisis de los incidentes de seguridad reportados por los patrulleros en Pudahuel.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838200" y="3158836"/>
            <a:ext cx="10300855" cy="3334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Centralizar y estructurar la información de los incidentes reportados.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Permitir el seguimiento detallado de cada incidente desde el reporte hasta su resolución.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Integrar herramientas de análisis para identificar patrones y zonas críticas.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Mejorar la comunicación entre patrulleros y supervisores mediante un flujo de información formal.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Generar reportes y métricas para la toma de decisiones estratégicas.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Optimizar la eficiencia operativa en la gestión de incidentes.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23207"/>
            <a:ext cx="12192000" cy="534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ES" sz="3600"/>
              <a:t>Alcances del Proyecto</a:t>
            </a:r>
            <a:endParaRPr/>
          </a:p>
        </p:txBody>
      </p:sp>
      <p:sp>
        <p:nvSpPr>
          <p:cNvPr id="129" name="Google Shape;12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ES" sz="2000"/>
              <a:t>El sistema incluirá: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s-ES" sz="2000"/>
              <a:t>Gestión de usuarios:</a:t>
            </a:r>
            <a:r>
              <a:rPr lang="es-ES" sz="2000"/>
              <a:t> autenticación, creación, edición, desactivación y asignación de roles.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s-ES" sz="2000"/>
              <a:t>Gestión de incidentes:</a:t>
            </a:r>
            <a:r>
              <a:rPr lang="es-ES" sz="2000"/>
              <a:t> registro completo de incidentes por parte de inspectores, con ubicación, categoría, descripción y evidencias.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s-ES" sz="2000"/>
              <a:t>Monitoreo operativo:</a:t>
            </a:r>
            <a:r>
              <a:rPr lang="es-ES" sz="2000"/>
              <a:t> visualización de ubicación en tiempo casi real de patrullas y asignación de patrullas a incidentes.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s-ES" sz="2000"/>
              <a:t>Historial y análisis:</a:t>
            </a:r>
            <a:r>
              <a:rPr lang="es-ES" sz="2000"/>
              <a:t> acceso a historial, filtros avanzados, gráficos analíticos, mapas de calor y comparación de periodos.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s-ES" sz="2000"/>
              <a:t>Reportes y exportación:</a:t>
            </a:r>
            <a:r>
              <a:rPr lang="es-ES" sz="2000"/>
              <a:t> generación de reportes estructurados y exportación de datos para análisis externo.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s-ES" sz="2000"/>
              <a:t>Registro de recursos logísticos:</a:t>
            </a:r>
            <a:r>
              <a:rPr lang="es-ES" sz="2000"/>
              <a:t> registro de recargas de combustible por parte de los conductores.</a:t>
            </a:r>
            <a:endParaRPr/>
          </a:p>
        </p:txBody>
      </p:sp>
      <p:pic>
        <p:nvPicPr>
          <p:cNvPr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23207"/>
            <a:ext cx="12192000" cy="534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ES" sz="3600"/>
              <a:t>Limitaciones del Proyecto</a:t>
            </a:r>
            <a:endParaRPr/>
          </a:p>
        </p:txBody>
      </p:sp>
      <p:sp>
        <p:nvSpPr>
          <p:cNvPr id="136" name="Google Shape;136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ES" sz="2000"/>
              <a:t>El proyecto </a:t>
            </a:r>
            <a:r>
              <a:rPr b="1" lang="es-ES" sz="2000"/>
              <a:t>no contempla</a:t>
            </a:r>
            <a:r>
              <a:rPr lang="es-ES" sz="2000"/>
              <a:t>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ES" sz="2000"/>
              <a:t>Integración con sistemas externos de seguridad (Carabineros, 133, SOSAFE u otros).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ES" sz="2000"/>
              <a:t>Transmisión GPS en tiempo real al 100%.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ES" sz="2000"/>
              <a:t>Automatización de decisiones operativas (por ejemplo, asignación automática de patrullas mediante IA).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ES" sz="2000"/>
              <a:t>Gestión financiera completa de recursos (solo se registra combustible, no presupuestos ni costos totales).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ES" sz="2000"/>
              <a:t>Análisis predictivo avanzado (solo análisis descriptivo y comparativo).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ES" sz="2000"/>
              <a:t>Soporte 24/7 o infraestructura garantizada (depende del entorno donde se implemente).</a:t>
            </a:r>
            <a:endParaRPr/>
          </a:p>
        </p:txBody>
      </p:sp>
      <p:pic>
        <p:nvPicPr>
          <p:cNvPr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23207"/>
            <a:ext cx="12192000" cy="534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/>
          <p:nvPr>
            <p:ph type="title"/>
          </p:nvPr>
        </p:nvSpPr>
        <p:spPr>
          <a:xfrm>
            <a:off x="1001267" y="392557"/>
            <a:ext cx="448985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ES" sz="3600"/>
              <a:t>Metodología de trabajo</a:t>
            </a:r>
            <a:endParaRPr/>
          </a:p>
        </p:txBody>
      </p:sp>
      <p:sp>
        <p:nvSpPr>
          <p:cNvPr id="143" name="Google Shape;143;p8"/>
          <p:cNvSpPr txBox="1"/>
          <p:nvPr>
            <p:ph idx="1" type="body"/>
          </p:nvPr>
        </p:nvSpPr>
        <p:spPr>
          <a:xfrm>
            <a:off x="1001267" y="1871345"/>
            <a:ext cx="4489851" cy="34989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ES" sz="2000"/>
              <a:t>Se utilizó la metodología </a:t>
            </a:r>
            <a:r>
              <a:rPr i="1" lang="es-ES" sz="2000"/>
              <a:t>Waterfall</a:t>
            </a:r>
            <a:r>
              <a:rPr lang="es-ES" sz="2000"/>
              <a:t> debido a que las funcionalidades del proyecto estaban claras desde el inicio.</a:t>
            </a:r>
            <a:br>
              <a:rPr lang="es-ES" sz="2000"/>
            </a:br>
            <a:r>
              <a:rPr lang="es-ES" sz="2000"/>
              <a:t>Esto se logró gracias a que un integrante del equipo era </a:t>
            </a:r>
            <a:r>
              <a:rPr b="1" lang="es-ES" sz="2000"/>
              <a:t>inspector de seguridad municipal en Pudahuel</a:t>
            </a:r>
            <a:r>
              <a:rPr lang="es-ES" sz="2000"/>
              <a:t>, aportando conocimiento directo sobre las necesidades reales del sistema.</a:t>
            </a:r>
            <a:endParaRPr sz="2000"/>
          </a:p>
        </p:txBody>
      </p:sp>
      <p:pic>
        <p:nvPicPr>
          <p:cNvPr id="144" name="Google Shape;1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23207"/>
            <a:ext cx="12192000" cy="534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etodología Waterfall vs Metodología Agile • DoneTonic" id="145" name="Google Shape;145;p8"/>
          <p:cNvPicPr preferRelativeResize="0"/>
          <p:nvPr/>
        </p:nvPicPr>
        <p:blipFill rotWithShape="1">
          <a:blip r:embed="rId4">
            <a:alphaModFix/>
          </a:blip>
          <a:srcRect b="20635" l="5288" r="15317" t="8677"/>
          <a:stretch/>
        </p:blipFill>
        <p:spPr>
          <a:xfrm>
            <a:off x="6096000" y="812800"/>
            <a:ext cx="5515428" cy="4847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/>
          <p:nvPr>
            <p:ph type="title"/>
          </p:nvPr>
        </p:nvSpPr>
        <p:spPr>
          <a:xfrm>
            <a:off x="838200" y="365126"/>
            <a:ext cx="10515600" cy="10443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ES" sz="3600"/>
              <a:t>Fases del Proyecto</a:t>
            </a:r>
            <a:endParaRPr sz="3600"/>
          </a:p>
        </p:txBody>
      </p:sp>
      <p:sp>
        <p:nvSpPr>
          <p:cNvPr id="151" name="Google Shape;151;p9"/>
          <p:cNvSpPr txBox="1"/>
          <p:nvPr>
            <p:ph idx="1" type="body"/>
          </p:nvPr>
        </p:nvSpPr>
        <p:spPr>
          <a:xfrm>
            <a:off x="838200" y="1409507"/>
            <a:ext cx="6447971" cy="5083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Planificación y Análisis: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Definición de objetivos, alcance, requisitos y viabilidad. Se establece </a:t>
            </a:r>
            <a:r>
              <a:rPr b="0" i="1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qué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necesita.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Diseño: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Definición de arquitectura, base de datos, interfaces y componentes. Se detalla </a:t>
            </a:r>
            <a:r>
              <a:rPr b="0" i="1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cómo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construirá.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Desarrollo: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Construcción del sistema, programación de funcionalidades y configuración del entorno.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Pruebas: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Validación del funcionamiento, detección y corrección de errores.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Documentación y Capacitación: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Creación de manuales y formación de usuarios finales u operativos.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Cierre: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Entrega del producto, aceptación formal, liberación de recursos y registro de aprendizajes.</a:t>
            </a:r>
            <a:endParaRPr/>
          </a:p>
        </p:txBody>
      </p:sp>
      <p:pic>
        <p:nvPicPr>
          <p:cNvPr id="152" name="Google Shape;15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23207"/>
            <a:ext cx="12192000" cy="534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9"/>
          <p:cNvPicPr preferRelativeResize="0"/>
          <p:nvPr/>
        </p:nvPicPr>
        <p:blipFill rotWithShape="1">
          <a:blip r:embed="rId4">
            <a:alphaModFix/>
          </a:blip>
          <a:srcRect b="0" l="12921" r="12666" t="0"/>
          <a:stretch/>
        </p:blipFill>
        <p:spPr>
          <a:xfrm>
            <a:off x="7489372" y="1524000"/>
            <a:ext cx="4252686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ES" sz="3600"/>
              <a:t>Resumen Cronograma del Proyecto</a:t>
            </a:r>
            <a:endParaRPr/>
          </a:p>
        </p:txBody>
      </p:sp>
      <p:graphicFrame>
        <p:nvGraphicFramePr>
          <p:cNvPr id="159" name="Google Shape;159;p10"/>
          <p:cNvGraphicFramePr/>
          <p:nvPr/>
        </p:nvGraphicFramePr>
        <p:xfrm>
          <a:off x="838200" y="16906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{653DECAC-3A0F-44E1-B952-E874A0DB6F7D}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s-ES" sz="1800" u="none" cap="none" strike="noStrike"/>
                        <a:t>Fase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s-ES" sz="1800" u="none" cap="none" strike="noStrike"/>
                        <a:t>Inicio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s-ES" sz="1800" u="none" cap="none" strike="noStrike"/>
                        <a:t>Término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s-ES" sz="1800" u="none" cap="none" strike="noStrike"/>
                        <a:t>Duración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Planificación y Análisis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25 de agosto de 2025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29 de agosto de 2025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1 semana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Diseño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1 de septiembre de 2025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12 de septiembre de 2025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2 semanas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Desarrollo de funcionalidades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15 de septiembre de 2025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7 de noviembre de 2025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8 semanas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Pruebas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10 de noviembre de 2025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14 de noviembre de 2025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1 semana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Documentación y Capacitación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17 de noviembre de 2025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19 de noviembre de 2025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3 días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Cierre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20 de noviembre de 2025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21 de noviembre de 2025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2 días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pic>
        <p:nvPicPr>
          <p:cNvPr id="160" name="Google Shape;16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23207"/>
            <a:ext cx="12192000" cy="534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 txBox="1"/>
          <p:nvPr>
            <p:ph type="title"/>
          </p:nvPr>
        </p:nvSpPr>
        <p:spPr>
          <a:xfrm>
            <a:off x="822960" y="227965"/>
            <a:ext cx="10546080" cy="832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ES" sz="3600"/>
              <a:t>Arquitectura del Sistema</a:t>
            </a:r>
            <a:endParaRPr/>
          </a:p>
        </p:txBody>
      </p:sp>
      <p:pic>
        <p:nvPicPr>
          <p:cNvPr id="166" name="Google Shape;166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8612" y="891222"/>
            <a:ext cx="6414775" cy="5295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323207"/>
            <a:ext cx="12192000" cy="534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>
            <p:ph type="title"/>
          </p:nvPr>
        </p:nvSpPr>
        <p:spPr>
          <a:xfrm>
            <a:off x="838200" y="365125"/>
            <a:ext cx="3294888" cy="787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ES" sz="3600"/>
              <a:t>Modelo de datos</a:t>
            </a:r>
            <a:endParaRPr/>
          </a:p>
        </p:txBody>
      </p:sp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838200" y="1408177"/>
            <a:ext cx="4520184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ES" sz="2000"/>
              <a:t>El modelo de datos se diseñó según la estructura nativa de Firebase Firestore, que utiliza colecciones y documentos en lugar de tablas relacionales. Esta elección permite mayor flexibilidad, escalabilidad y simplicidad, evitando la complejidad del modelado SQL tradicional. En resumen: adoptamos un enfoque NoSQL porque es suficiente, eficiente y se ajusta de forma natural a las características de Firestore.</a:t>
            </a:r>
            <a:endParaRPr sz="2000"/>
          </a:p>
        </p:txBody>
      </p:sp>
      <p:pic>
        <p:nvPicPr>
          <p:cNvPr id="174" name="Google Shape;17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0918" y="365125"/>
            <a:ext cx="5806445" cy="5724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323207"/>
            <a:ext cx="12192000" cy="534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 txBox="1"/>
          <p:nvPr>
            <p:ph type="title"/>
          </p:nvPr>
        </p:nvSpPr>
        <p:spPr>
          <a:xfrm>
            <a:off x="838200" y="193160"/>
            <a:ext cx="10515600" cy="851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ES" sz="3600"/>
              <a:t>Tecnologías Implementadas</a:t>
            </a:r>
            <a:endParaRPr/>
          </a:p>
        </p:txBody>
      </p:sp>
      <p:sp>
        <p:nvSpPr>
          <p:cNvPr id="181" name="Google Shape;181;p13"/>
          <p:cNvSpPr txBox="1"/>
          <p:nvPr>
            <p:ph idx="1" type="body"/>
          </p:nvPr>
        </p:nvSpPr>
        <p:spPr>
          <a:xfrm>
            <a:off x="838200" y="1002918"/>
            <a:ext cx="6979920" cy="53615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s-ES" sz="1600"/>
              <a:t>Frontend y Cliente</a:t>
            </a:r>
            <a:endParaRPr sz="1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s-ES" sz="1600"/>
              <a:t>Móvil:</a:t>
            </a:r>
            <a:r>
              <a:rPr lang="es-ES" sz="1600"/>
              <a:t> Flutter para el desarrollo de la aplicación móvil.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s-ES" sz="1600"/>
              <a:t>Web (Dashboard):</a:t>
            </a:r>
            <a:r>
              <a:rPr lang="es-ES" sz="1600"/>
              <a:t> React para la construcción de la aplicación web, alojada en un Browser.</a:t>
            </a:r>
            <a:br>
              <a:rPr lang="es-ES" sz="1600"/>
            </a:b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s-ES" sz="1600"/>
              <a:t>Backend y Servicios</a:t>
            </a:r>
            <a:endParaRPr sz="1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s-ES" sz="1600"/>
              <a:t>Plataforma Central:</a:t>
            </a:r>
            <a:r>
              <a:rPr lang="es-ES" sz="1600"/>
              <a:t> Firebase (Server).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s-ES" sz="1600"/>
              <a:t>Autenticación:</a:t>
            </a:r>
            <a:r>
              <a:rPr lang="es-ES" sz="1600"/>
              <a:t> Firebase Authentication para la gestión de acceso de usuarios.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s-ES" sz="1600"/>
              <a:t>Base de Datos:</a:t>
            </a:r>
            <a:r>
              <a:rPr lang="es-ES" sz="1600"/>
              <a:t> Firestore para el almacenamiento de datos de los incidentes.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s-ES" sz="1600"/>
              <a:t>Lógica de Negocio:</a:t>
            </a:r>
            <a:r>
              <a:rPr lang="es-ES" sz="1600"/>
              <a:t> Cloud Functions para ejecutar el código del backend.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s-ES" sz="1600"/>
              <a:t>Alojamiento Web:</a:t>
            </a:r>
            <a:r>
              <a:rPr lang="es-ES" sz="1600"/>
              <a:t> Firebase Hosting para la aplicación web (dashboard).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s-ES" sz="1600"/>
              <a:t>Mapas:</a:t>
            </a:r>
            <a:r>
              <a:rPr lang="es-ES" sz="1600"/>
              <a:t> Leaflet como API para la visualización de mapas y datos geográficos.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s-ES" sz="1600"/>
              <a:t>Almacenamiento de Medios:</a:t>
            </a:r>
            <a:r>
              <a:rPr lang="es-ES" sz="1600"/>
              <a:t> Cloudinary como repositorio para las imágenes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82" name="Google Shape;182;p13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8120" y="1237346"/>
            <a:ext cx="3605095" cy="87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3"/>
          <p:cNvPicPr preferRelativeResize="0"/>
          <p:nvPr/>
        </p:nvPicPr>
        <p:blipFill rotWithShape="1">
          <a:blip r:embed="rId4">
            <a:alphaModFix/>
          </a:blip>
          <a:srcRect b="0" l="0" r="42702" t="0"/>
          <a:stretch/>
        </p:blipFill>
        <p:spPr>
          <a:xfrm>
            <a:off x="8875135" y="3153732"/>
            <a:ext cx="1804366" cy="1074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64921" y="4718548"/>
            <a:ext cx="2229161" cy="847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3"/>
          <p:cNvPicPr preferRelativeResize="0"/>
          <p:nvPr/>
        </p:nvPicPr>
        <p:blipFill rotWithShape="1">
          <a:blip r:embed="rId4">
            <a:alphaModFix/>
          </a:blip>
          <a:srcRect b="0" l="56542" r="0" t="0"/>
          <a:stretch/>
        </p:blipFill>
        <p:spPr>
          <a:xfrm>
            <a:off x="8058715" y="4492213"/>
            <a:ext cx="1368553" cy="1074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6323207"/>
            <a:ext cx="12192000" cy="534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/>
          <p:nvPr>
            <p:ph type="title"/>
          </p:nvPr>
        </p:nvSpPr>
        <p:spPr>
          <a:xfrm>
            <a:off x="2907792" y="2766218"/>
            <a:ext cx="637641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s-ES"/>
              <a:t>Demostración del Proyecto</a:t>
            </a:r>
            <a:endParaRPr/>
          </a:p>
        </p:txBody>
      </p:sp>
      <p:pic>
        <p:nvPicPr>
          <p:cNvPr id="193" name="Google Shape;1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23207"/>
            <a:ext cx="12192000" cy="534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 txBox="1"/>
          <p:nvPr>
            <p:ph type="title"/>
          </p:nvPr>
        </p:nvSpPr>
        <p:spPr>
          <a:xfrm>
            <a:off x="840731" y="493457"/>
            <a:ext cx="4535941" cy="768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ES" sz="3600"/>
              <a:t>Resultados Obtenidos</a:t>
            </a:r>
            <a:endParaRPr/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669" y="1351369"/>
            <a:ext cx="10520662" cy="4674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323207"/>
            <a:ext cx="12192000" cy="534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 txBox="1"/>
          <p:nvPr>
            <p:ph type="title"/>
          </p:nvPr>
        </p:nvSpPr>
        <p:spPr>
          <a:xfrm>
            <a:off x="840731" y="493457"/>
            <a:ext cx="4535941" cy="768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ES" sz="3600"/>
              <a:t>Resultados Obtenidos</a:t>
            </a:r>
            <a:endParaRPr/>
          </a:p>
        </p:txBody>
      </p:sp>
      <p:pic>
        <p:nvPicPr>
          <p:cNvPr id="206" name="Google Shape;2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299" y="1376330"/>
            <a:ext cx="11475402" cy="4105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323207"/>
            <a:ext cx="12192000" cy="534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ES" sz="3600"/>
              <a:t>Obstáculos Presentados durante el Desarrollo</a:t>
            </a:r>
            <a:endParaRPr/>
          </a:p>
        </p:txBody>
      </p:sp>
      <p:pic>
        <p:nvPicPr>
          <p:cNvPr id="213" name="Google Shape;2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23207"/>
            <a:ext cx="12192000" cy="534793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7"/>
          <p:cNvSpPr txBox="1"/>
          <p:nvPr>
            <p:ph idx="1" type="body"/>
          </p:nvPr>
        </p:nvSpPr>
        <p:spPr>
          <a:xfrm>
            <a:off x="838200" y="2641504"/>
            <a:ext cx="10515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Manejar permisos y roles de usuarios de forma segura.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Diseñar una interfaz intuitiva para patrulleros con poca experiencia tecnológica.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Garantizar pruebas suficientes antes del despliegue.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Ajustarse al cronograma de desarrollo y evitar retrasos.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s-ES" sz="2000"/>
              <a:t>Integrar correctamente las funcionalidades entre frontend, backend y base de datos.</a:t>
            </a:r>
            <a:b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 txBox="1"/>
          <p:nvPr>
            <p:ph type="title"/>
          </p:nvPr>
        </p:nvSpPr>
        <p:spPr>
          <a:xfrm>
            <a:off x="838200" y="71191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ES" sz="3600"/>
              <a:t>Les invitamos a hacer Preguntas</a:t>
            </a:r>
            <a:endParaRPr/>
          </a:p>
        </p:txBody>
      </p:sp>
      <p:pic>
        <p:nvPicPr>
          <p:cNvPr id="220" name="Google Shape;2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23207"/>
            <a:ext cx="12192000" cy="534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enas preguntas para hacer en una entrevista - Talent Match" id="221" name="Google Shape;22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6111" y="2466179"/>
            <a:ext cx="5379778" cy="3050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2025-11-21T22:40:49Z</dcterms:created>
  <dc:creator>GABRIEL BENJAMIN ORELLANA CARDENAS</dc:creator>
</cp:coreProperties>
</file>